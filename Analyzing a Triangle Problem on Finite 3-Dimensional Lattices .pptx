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8" r:id="rId6"/>
    <p:sldId id="268" r:id="rId7"/>
    <p:sldId id="270" r:id="rId8"/>
    <p:sldId id="259" r:id="rId9"/>
    <p:sldId id="264" r:id="rId10"/>
    <p:sldId id="260" r:id="rId11"/>
    <p:sldId id="265" r:id="rId12"/>
    <p:sldId id="266" r:id="rId13"/>
    <p:sldId id="261" r:id="rId14"/>
    <p:sldId id="267" r:id="rId15"/>
    <p:sldId id="269" r:id="rId16"/>
    <p:sldId id="26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AB7EBA-9624-4A1F-B85B-F746C0DC317F}" v="760" dt="2026-04-30T00:19:43.7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  <a:latin typeface="Times New Roman"/>
                <a:cs typeface="Times New Roman"/>
              </a:rPr>
              <a:t>Analyzing a Triangle Problem on Finite 3-Dimensional Lattices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>
                <a:latin typeface="Times New Roman"/>
                <a:cs typeface="Times New Roman"/>
              </a:rPr>
              <a:t>Javier Khaaliq, Nathaniel Johnson</a:t>
            </a:r>
          </a:p>
          <a:p>
            <a:pPr algn="l"/>
            <a:r>
              <a:rPr lang="en-US">
                <a:latin typeface="Times New Roman"/>
                <a:cs typeface="Times New Roman"/>
              </a:rPr>
              <a:t>Advisor: Dr. Robert Niichel</a:t>
            </a:r>
          </a:p>
          <a:p>
            <a:pPr algn="l"/>
            <a:r>
              <a:rPr lang="en-US">
                <a:latin typeface="Times New Roman"/>
                <a:cs typeface="Times New Roman"/>
              </a:rPr>
              <a:t>Fairmont State University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9A8536-8AE8-2602-FC6A-2F1952BC2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latin typeface="Times New Roman"/>
                <a:cs typeface="Times New Roman"/>
              </a:rPr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3509C3-D8A6-7B29-29B6-34FF84226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t">
            <a:normAutofit/>
          </a:bodyPr>
          <a:lstStyle/>
          <a:p>
            <a:r>
              <a:rPr lang="en-US" sz="2000">
                <a:latin typeface="Times New Roman"/>
                <a:cs typeface="Times New Roman"/>
              </a:rPr>
              <a:t>Problem posed by Lewis Carroll in 1893: </a:t>
            </a:r>
          </a:p>
          <a:p>
            <a:pPr lvl="1"/>
            <a:r>
              <a:rPr lang="en-US" sz="1600">
                <a:latin typeface="Times New Roman"/>
                <a:cs typeface="Times New Roman"/>
              </a:rPr>
              <a:t>“Choosing three random points on the infinite plane, what is the probability the triangle formed is obtuse?”</a:t>
            </a:r>
          </a:p>
          <a:p>
            <a:r>
              <a:rPr lang="en-US" sz="2000">
                <a:latin typeface="Times New Roman"/>
                <a:cs typeface="Times New Roman"/>
              </a:rPr>
              <a:t>Our adaptation:</a:t>
            </a:r>
          </a:p>
          <a:p>
            <a:pPr lvl="1"/>
            <a:r>
              <a:rPr lang="en-US" sz="1600">
                <a:latin typeface="Times New Roman"/>
                <a:cs typeface="Times New Roman"/>
              </a:rPr>
              <a:t>“Choosing three random points on a n-by-n grid, what is the probability the triangle formed is obtuse?”</a:t>
            </a:r>
          </a:p>
          <a:p>
            <a:r>
              <a:rPr lang="en-US" sz="2000">
                <a:latin typeface="Times New Roman"/>
                <a:cs typeface="Times New Roman"/>
              </a:rPr>
              <a:t>Continuation of previous work</a:t>
            </a:r>
          </a:p>
          <a:p>
            <a:pPr lvl="1"/>
            <a:r>
              <a:rPr lang="en-US" sz="1600">
                <a:latin typeface="Times New Roman"/>
                <a:cs typeface="Times New Roman"/>
              </a:rPr>
              <a:t>First step toward generalizing work in 2D into 3D</a:t>
            </a:r>
          </a:p>
          <a:p>
            <a:pPr lvl="1"/>
            <a:r>
              <a:rPr lang="en-US" sz="1600">
                <a:latin typeface="Times New Roman"/>
                <a:cs typeface="Times New Roman"/>
              </a:rPr>
              <a:t>Creating the foundation for future researchers to assist developing theorems.</a:t>
            </a:r>
          </a:p>
          <a:p>
            <a:pPr lvl="1"/>
            <a:endParaRPr lang="en-US" sz="16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998057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29DBF4-E436-B939-4C58-D0180D7CA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Foundation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1B15C-CD42-C584-92B8-DDA4782A13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Holding two coordinates constant and allowing the third to approach infinity, we investigate the allowed triangles and non-triangles that will fit within the created lattice grid</a:t>
            </a: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We use the following classifications: non-triangle (three or more collinear points), right triangle, acute triangle, obtuse triangle</a:t>
            </a: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Goal: Find a limiting probability for the total number of triangles and non-triangles and the individual limiting probabilities for each classification within the grid</a:t>
            </a:r>
          </a:p>
        </p:txBody>
      </p:sp>
    </p:spTree>
    <p:extLst>
      <p:ext uri="{BB962C8B-B14F-4D97-AF65-F5344CB8AC3E}">
        <p14:creationId xmlns:p14="http://schemas.microsoft.com/office/powerpoint/2010/main" val="11617904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733A54-F09C-9626-4365-56B2DB201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1F03D1D-8B33-A873-A4CB-55B50C5616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46D3F57-E330-2F88-173C-74F8A8E463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5751" y="2364650"/>
            <a:ext cx="3126660" cy="276988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22C268A-7124-B5D2-279A-CE7826E4DB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C3D6E20-6E23-EE48-3B64-5DE6DACD48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EE43A12-E9E0-E1A5-A498-58213BA486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43B506D-2C98-6451-2821-64A462BCEB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DBC3BF-6AB4-1B08-CF98-CFAE748B4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Fundamentals of Vectors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7A09CD6-6BD7-FD8D-8D67-60E16043C8F4}"/>
                  </a:ext>
                </a:extLst>
              </p:cNvPr>
              <p:cNvSpPr txBox="1"/>
              <p:nvPr/>
            </p:nvSpPr>
            <p:spPr>
              <a:xfrm>
                <a:off x="358185" y="1765735"/>
                <a:ext cx="4139381" cy="5134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Vectors: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Mathematical object prevalent in physics and linear algebra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Graphically represented as an arrow between point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v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=&lt;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a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b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 </m:t>
                    </m:r>
                  </m:oMath>
                </a14:m>
                <a:r>
                  <a:rPr lang="en-US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v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=&lt;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a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b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c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</m:t>
                    </m:r>
                  </m:oMath>
                </a14:m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Magnitude measures the length between the head of the vector and its tail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𝑣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Dot product: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⋅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Operator for vectors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Related to the angle between the two vectors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Results in a number, </a:t>
                </a:r>
                <a:r>
                  <a:rPr lang="en-US" u="sng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not</a:t>
                </a:r>
                <a:r>
                  <a:rPr lang="en-US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another vector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/>
              </a:p>
              <a:p>
                <a:endParaRPr lang="en-US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7A09CD6-6BD7-FD8D-8D67-60E16043C8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185" y="1765735"/>
                <a:ext cx="4139381" cy="5134483"/>
              </a:xfrm>
              <a:prstGeom prst="rect">
                <a:avLst/>
              </a:prstGeom>
              <a:blipFill>
                <a:blip r:embed="rId3"/>
                <a:stretch>
                  <a:fillRect l="-1325" t="-713" r="-4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Picture 17">
            <a:extLst>
              <a:ext uri="{FF2B5EF4-FFF2-40B4-BE49-F238E27FC236}">
                <a16:creationId xmlns:a16="http://schemas.microsoft.com/office/drawing/2014/main" id="{3C7F0CD0-0CD0-117E-49A2-43471F82C5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0596" y="2364650"/>
            <a:ext cx="2995877" cy="276988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E28852D-5966-D83C-3BE8-C9625E93430D}"/>
              </a:ext>
            </a:extLst>
          </p:cNvPr>
          <p:cNvSpPr txBox="1"/>
          <p:nvPr/>
        </p:nvSpPr>
        <p:spPr>
          <a:xfrm>
            <a:off x="4855751" y="5289755"/>
            <a:ext cx="2744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Figure 1: Two 3D vectors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9A2BE3-B3FA-641B-D949-C0568A09E1D9}"/>
              </a:ext>
            </a:extLst>
          </p:cNvPr>
          <p:cNvSpPr txBox="1"/>
          <p:nvPr/>
        </p:nvSpPr>
        <p:spPr>
          <a:xfrm>
            <a:off x="8340596" y="5289755"/>
            <a:ext cx="2744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Figure 2: A 2D vector</a:t>
            </a:r>
          </a:p>
        </p:txBody>
      </p:sp>
    </p:spTree>
    <p:extLst>
      <p:ext uri="{BB962C8B-B14F-4D97-AF65-F5344CB8AC3E}">
        <p14:creationId xmlns:p14="http://schemas.microsoft.com/office/powerpoint/2010/main" val="29782098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1D6764-8227-0FD3-393E-0EC62A013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latin typeface="Times New Roman"/>
                <a:cs typeface="Times New Roman"/>
              </a:rPr>
              <a:t>Computing Angles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84888B-8D6E-8FC4-C3A7-C1D37CA466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580" y="2318197"/>
            <a:ext cx="2792969" cy="3683358"/>
          </a:xfrm>
        </p:spPr>
        <p:txBody>
          <a:bodyPr numCol="1" anchor="t">
            <a:normAutofit/>
          </a:bodyPr>
          <a:lstStyle/>
          <a:p>
            <a:pPr marL="0" indent="0">
              <a:buNone/>
            </a:pPr>
            <a:r>
              <a:rPr lang="en-US" sz="2000" b="1">
                <a:latin typeface="Times New Roman"/>
                <a:cs typeface="Times New Roman"/>
              </a:rPr>
              <a:t>Program Methodology:</a:t>
            </a:r>
          </a:p>
          <a:p>
            <a:r>
              <a:rPr lang="en-US" sz="2000">
                <a:latin typeface="Times New Roman"/>
                <a:cs typeface="Times New Roman"/>
              </a:rPr>
              <a:t>Generate a list with all possible point combinations</a:t>
            </a:r>
          </a:p>
          <a:p>
            <a:r>
              <a:rPr lang="en-US" sz="2000">
                <a:latin typeface="Times New Roman"/>
                <a:cs typeface="Times New Roman"/>
              </a:rPr>
              <a:t>Iterate through the point list to generate all possible vectors</a:t>
            </a:r>
          </a:p>
          <a:p>
            <a:r>
              <a:rPr lang="en-US" sz="2000">
                <a:latin typeface="Times New Roman"/>
                <a:cs typeface="Times New Roman"/>
              </a:rPr>
              <a:t>Classify and record triangle type using vector information</a:t>
            </a:r>
          </a:p>
          <a:p>
            <a:pPr marL="0" indent="0">
              <a:buNone/>
            </a:pPr>
            <a:endParaRPr lang="en-US" sz="200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A1D1E4EA-6C08-CD91-137B-B4691607DD8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37039" y="2318197"/>
                <a:ext cx="2792969" cy="3683358"/>
              </a:xfrm>
              <a:prstGeom prst="rect">
                <a:avLst/>
              </a:prstGeom>
            </p:spPr>
            <p:txBody>
              <a:bodyPr vert="horz" lIns="91440" tIns="45720" rIns="91440" bIns="45720" numCol="1" rtlCol="0" anchor="t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2000" b="1">
                    <a:latin typeface="Times New Roman"/>
                    <a:cs typeface="Times New Roman"/>
                  </a:rPr>
                  <a:t>Triangle Classification:</a:t>
                </a:r>
              </a:p>
              <a:p>
                <a:r>
                  <a:rPr lang="en-US" sz="2000">
                    <a:latin typeface="Times New Roman"/>
                    <a:cs typeface="Times New Roman"/>
                  </a:rPr>
                  <a:t>Law of Cosines</a:t>
                </a:r>
              </a:p>
              <a:p>
                <a:pPr lvl="1"/>
                <a:r>
                  <a:rPr lang="en-US" sz="1600">
                    <a:latin typeface="Times New Roman"/>
                    <a:cs typeface="Times New Roman"/>
                  </a:rPr>
                  <a:t>Use the side lengths to find all angles</a:t>
                </a:r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US" sz="2000" i="1" smtClean="0"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i="0" smtClean="0">
                            <a:latin typeface="Cambria Math" panose="02040503050406030204" pitchFamily="18" charset="0"/>
                            <a:cs typeface="Times New Roman"/>
                          </a:rPr>
                          <m:t>cos</m:t>
                        </m:r>
                      </m:fName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  <m:t>𝜃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  <m:t>= </m:t>
                        </m:r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</m:ctrlPr>
                              </m:sSup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𝑐</m:t>
                                </m:r>
                              </m:e>
                              <m:sup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</m:ctrlPr>
                              </m:sSup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−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</m:ctrlPr>
                              </m:sSup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−2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/>
                              </a:rPr>
                              <m:t>𝑎𝑏</m:t>
                            </m:r>
                          </m:den>
                        </m:f>
                      </m:e>
                    </m:func>
                  </m:oMath>
                </a14:m>
                <a:endParaRPr lang="en-US" sz="1600">
                  <a:latin typeface="Times New Roman"/>
                  <a:cs typeface="Times New Roman"/>
                </a:endParaRPr>
              </a:p>
              <a:p>
                <a:r>
                  <a:rPr lang="en-US" sz="2000">
                    <a:latin typeface="Times New Roman"/>
                    <a:cs typeface="Times New Roman"/>
                  </a:rPr>
                  <a:t>Dot Product</a:t>
                </a:r>
              </a:p>
              <a:p>
                <a:pPr lvl="1"/>
                <a:r>
                  <a:rPr lang="en-US" sz="1600">
                    <a:latin typeface="Times New Roman"/>
                    <a:cs typeface="Times New Roman"/>
                  </a:rPr>
                  <a:t>Use the relation to cosine to find all angles</a:t>
                </a:r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US" sz="2000" i="1" smtClean="0"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i="0" smtClean="0">
                            <a:latin typeface="Cambria Math" panose="02040503050406030204" pitchFamily="18" charset="0"/>
                            <a:cs typeface="Times New Roman"/>
                          </a:rPr>
                          <m:t>cos</m:t>
                        </m:r>
                      </m:fName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  <m:t>𝜃</m:t>
                        </m:r>
                      </m:e>
                    </m:func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cs typeface="Times New Roman"/>
                          </a:rPr>
                          <m:t>𝑢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  <m:t>⋅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  <m:t>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/>
                          </a:rPr>
                          <m:t>𝑣</m:t>
                        </m:r>
                      </m:num>
                      <m:den>
                        <m:d>
                          <m:dPr>
                            <m:begChr m:val="‖"/>
                            <m:endChr m:val="‖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Times New Roman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Times New Roman"/>
                              </a:rPr>
                              <m:t>𝑢</m:t>
                            </m:r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∗</m:t>
                        </m:r>
                        <m:d>
                          <m:dPr>
                            <m:begChr m:val="‖"/>
                            <m:endChr m:val="‖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Times New Roman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Times New Roman"/>
                              </a:rPr>
                              <m:t>𝑣</m:t>
                            </m:r>
                          </m:e>
                        </m:d>
                      </m:den>
                    </m:f>
                  </m:oMath>
                </a14:m>
                <a:endParaRPr lang="en-US" sz="1600">
                  <a:latin typeface="Times New Roman"/>
                  <a:cs typeface="Times New Roman"/>
                </a:endParaRPr>
              </a:p>
              <a:p>
                <a:pPr lvl="1"/>
                <a:endParaRPr lang="en-US" sz="1600">
                  <a:latin typeface="Times New Roman"/>
                  <a:cs typeface="Times New Roman"/>
                </a:endParaRP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A1D1E4EA-6C08-CD91-137B-B4691607DD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7039" y="2318197"/>
                <a:ext cx="2792969" cy="3683358"/>
              </a:xfrm>
              <a:prstGeom prst="rect">
                <a:avLst/>
              </a:prstGeom>
              <a:blipFill>
                <a:blip r:embed="rId2"/>
                <a:stretch>
                  <a:fillRect l="-2183" t="-1653" r="-4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96E3A9C8-23EC-29ED-1C08-5FB90D0E8D37}"/>
              </a:ext>
            </a:extLst>
          </p:cNvPr>
          <p:cNvGrpSpPr/>
          <p:nvPr/>
        </p:nvGrpSpPr>
        <p:grpSpPr>
          <a:xfrm>
            <a:off x="7408500" y="2131581"/>
            <a:ext cx="4387836" cy="1237792"/>
            <a:chOff x="7379680" y="2318197"/>
            <a:chExt cx="4387836" cy="1237792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B4FC078-96AF-C1BB-CD44-5BD273C647D6}"/>
                </a:ext>
              </a:extLst>
            </p:cNvPr>
            <p:cNvSpPr txBox="1"/>
            <p:nvPr/>
          </p:nvSpPr>
          <p:spPr>
            <a:xfrm>
              <a:off x="7379680" y="3217435"/>
              <a:ext cx="438783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Program Output for a 2x2x2 Lattice</a:t>
              </a: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995338DB-D2BB-5890-2809-04BEDE98875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08498" y="2318197"/>
              <a:ext cx="4359018" cy="899238"/>
            </a:xfrm>
            <a:prstGeom prst="rect">
              <a:avLst/>
            </a:prstGeom>
          </p:spPr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7CF83CB-53EE-92FD-56A6-4E5A131B3DE5}"/>
              </a:ext>
            </a:extLst>
          </p:cNvPr>
          <p:cNvGrpSpPr/>
          <p:nvPr/>
        </p:nvGrpSpPr>
        <p:grpSpPr>
          <a:xfrm>
            <a:off x="7408498" y="4989376"/>
            <a:ext cx="4387835" cy="1321093"/>
            <a:chOff x="7379678" y="5175992"/>
            <a:chExt cx="4387835" cy="1321093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2C86B6E7-3FDF-1DEC-C413-D8E8715A3E8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79678" y="5175992"/>
              <a:ext cx="4343776" cy="937341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12A0904-25C2-6185-28DC-702DB229793F}"/>
                </a:ext>
              </a:extLst>
            </p:cNvPr>
            <p:cNvSpPr txBox="1"/>
            <p:nvPr/>
          </p:nvSpPr>
          <p:spPr>
            <a:xfrm>
              <a:off x="7379678" y="6158531"/>
              <a:ext cx="438783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Program Output for a 4x4x4 Lattice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723C6C7-14E0-7EEE-9BEB-C11B9F653C07}"/>
              </a:ext>
            </a:extLst>
          </p:cNvPr>
          <p:cNvGrpSpPr/>
          <p:nvPr/>
        </p:nvGrpSpPr>
        <p:grpSpPr>
          <a:xfrm>
            <a:off x="7408499" y="3569986"/>
            <a:ext cx="4387837" cy="1218777"/>
            <a:chOff x="7379679" y="3742740"/>
            <a:chExt cx="4387837" cy="1218777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BF1601B3-F5E3-6828-1D7A-CBE29F9ECBA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08498" y="3742740"/>
              <a:ext cx="4359018" cy="899238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10E7CCE-7B10-A753-624C-EE4AD94B8F3D}"/>
                </a:ext>
              </a:extLst>
            </p:cNvPr>
            <p:cNvSpPr txBox="1"/>
            <p:nvPr/>
          </p:nvSpPr>
          <p:spPr>
            <a:xfrm>
              <a:off x="7379679" y="4622963"/>
              <a:ext cx="438783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Program Output for a 3x3x3 Lattice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813219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28C562-A549-7FDE-CBC7-2A3B305E8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6B476C7-952B-A14D-1661-47E70EB19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49A7716-5950-CC48-002B-80F0C695F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7835963-99B1-4A8F-87F6-D3A2AD72C0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FE61AE-5A72-DD1A-B0AA-A69F53B28D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C924A1B-85FF-7DB6-B974-A0C58BCB7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E42231-93DF-F518-2063-4DC7E39C0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latin typeface="Times New Roman"/>
                <a:cs typeface="Times New Roman"/>
              </a:rPr>
              <a:t>Triangle Classifications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E13600F7-2739-7758-D7F9-469FAE2EE9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4882" y="1934544"/>
            <a:ext cx="5425910" cy="4751764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EAD8DE0A-8FDE-B5EE-DF73-02C2B254D8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09" y="1927574"/>
            <a:ext cx="6641264" cy="4751764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EC269B22-EE23-1060-702E-8774A8E4A4ED}"/>
              </a:ext>
            </a:extLst>
          </p:cNvPr>
          <p:cNvSpPr txBox="1"/>
          <p:nvPr/>
        </p:nvSpPr>
        <p:spPr>
          <a:xfrm>
            <a:off x="1808712" y="1532433"/>
            <a:ext cx="3026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Dot Product Classification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FF3E463-B913-DA77-6595-8EBFB991BAD2}"/>
              </a:ext>
            </a:extLst>
          </p:cNvPr>
          <p:cNvSpPr txBox="1"/>
          <p:nvPr/>
        </p:nvSpPr>
        <p:spPr>
          <a:xfrm>
            <a:off x="7813720" y="1558242"/>
            <a:ext cx="3268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Law of Cosines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13551897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0D0374-B3A9-88D0-2ABF-B273223C4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latin typeface="Times New Roman"/>
                <a:cs typeface="Times New Roman"/>
              </a:rPr>
              <a:t>Visualizing the Grid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ABAFAF-560E-0B17-6A57-431B6FCA8B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1713080"/>
            <a:ext cx="4961531" cy="428847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2000" b="1" u="sng">
                <a:latin typeface="Times New Roman"/>
                <a:cs typeface="Times New Roman"/>
              </a:rPr>
              <a:t>Program Methodology</a:t>
            </a:r>
            <a:endParaRPr lang="en-US" b="1" u="sng"/>
          </a:p>
          <a:p>
            <a:pPr marL="342900" indent="-342900"/>
            <a:r>
              <a:rPr lang="en-US" sz="2000" u="sng">
                <a:latin typeface="Times New Roman"/>
                <a:cs typeface="Times New Roman"/>
              </a:rPr>
              <a:t>GUI:</a:t>
            </a:r>
            <a:r>
              <a:rPr lang="en-US" sz="2000">
                <a:latin typeface="Times New Roman"/>
                <a:cs typeface="Times New Roman"/>
              </a:rPr>
              <a:t> Simple user interface which allows for repeated use without rerunning code</a:t>
            </a:r>
          </a:p>
          <a:p>
            <a:pPr marL="342900" indent="-342900"/>
            <a:r>
              <a:rPr lang="en-US" sz="2000" u="sng">
                <a:latin typeface="Times New Roman"/>
                <a:cs typeface="Times New Roman"/>
              </a:rPr>
              <a:t>Random/Manual Mode:</a:t>
            </a:r>
            <a:r>
              <a:rPr lang="en-US" sz="2000">
                <a:latin typeface="Times New Roman"/>
                <a:cs typeface="Times New Roman"/>
              </a:rPr>
              <a:t> Allows for user input to generate a specific triangle using coordinates or generates a random triangle</a:t>
            </a:r>
            <a:endParaRPr lang="en-US"/>
          </a:p>
          <a:p>
            <a:pPr marL="342900" indent="-342900"/>
            <a:r>
              <a:rPr lang="en-US" sz="2000" u="sng">
                <a:latin typeface="Times New Roman"/>
                <a:cs typeface="Times New Roman"/>
              </a:rPr>
              <a:t>Triangle Classification:</a:t>
            </a:r>
            <a:r>
              <a:rPr lang="en-US" sz="2000">
                <a:latin typeface="Times New Roman"/>
                <a:cs typeface="Times New Roman"/>
              </a:rPr>
              <a:t> Determines the type of triangle using Law of Cosines</a:t>
            </a:r>
          </a:p>
          <a:p>
            <a:pPr marL="342900" indent="-342900"/>
            <a:r>
              <a:rPr lang="en-US" sz="2000" u="sng">
                <a:latin typeface="Times New Roman"/>
                <a:cs typeface="Times New Roman"/>
              </a:rPr>
              <a:t>Viewing:</a:t>
            </a:r>
            <a:r>
              <a:rPr lang="en-US" sz="2000">
                <a:latin typeface="Times New Roman"/>
                <a:cs typeface="Times New Roman"/>
              </a:rPr>
              <a:t> Shows grid, points, and allows for deeper visual analysis of a specific triangle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7510FBB-5571-AB1B-BC1E-7FD22978F3FA}"/>
                  </a:ext>
                </a:extLst>
              </p:cNvPr>
              <p:cNvSpPr txBox="1"/>
              <p:nvPr/>
            </p:nvSpPr>
            <p:spPr>
              <a:xfrm>
                <a:off x="6436523" y="2168454"/>
                <a:ext cx="5263863" cy="3296928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en-US" sz="2000" b="1" u="sng">
                    <a:latin typeface="Times New Roman"/>
                    <a:cs typeface="Times New Roman"/>
                  </a:rPr>
                  <a:t>Program Creation:</a:t>
                </a:r>
                <a:endParaRPr lang="en-US" b="1" u="sng"/>
              </a:p>
              <a:p>
                <a:pPr marL="342900" indent="-342900">
                  <a:buFont typeface="Arial"/>
                  <a:buChar char="•"/>
                </a:pPr>
                <a:r>
                  <a:rPr lang="en-US" sz="2000" u="sng">
                    <a:latin typeface="Times New Roman"/>
                    <a:cs typeface="Times New Roman"/>
                  </a:rPr>
                  <a:t>Language:</a:t>
                </a:r>
                <a:r>
                  <a:rPr lang="en-US" sz="2000">
                    <a:latin typeface="Times New Roman"/>
                    <a:cs typeface="Times New Roman"/>
                  </a:rPr>
                  <a:t> Python</a:t>
                </a:r>
              </a:p>
              <a:p>
                <a:pPr marL="342900" indent="-342900">
                  <a:buFont typeface="Arial"/>
                  <a:buChar char="•"/>
                </a:pPr>
                <a:r>
                  <a:rPr lang="en-US" sz="2000" u="sng">
                    <a:latin typeface="Times New Roman"/>
                    <a:cs typeface="Times New Roman"/>
                  </a:rPr>
                  <a:t>Libraries:</a:t>
                </a:r>
                <a:r>
                  <a:rPr lang="en-US" sz="2000">
                    <a:latin typeface="Times New Roman"/>
                    <a:cs typeface="Times New Roman"/>
                  </a:rPr>
                  <a:t> Plotly (visualization), Dash (GUI)</a:t>
                </a:r>
              </a:p>
              <a:p>
                <a:pPr marL="342900" indent="-342900">
                  <a:buFont typeface="Arial"/>
                  <a:buChar char="•"/>
                </a:pPr>
                <a:endParaRPr lang="en-US" sz="2000">
                  <a:latin typeface="Times New Roman"/>
                  <a:cs typeface="Times New Roman"/>
                </a:endParaRPr>
              </a:p>
              <a:p>
                <a:pPr algn="ctr"/>
                <a:r>
                  <a:rPr lang="en-US" sz="2000" b="1" u="sng">
                    <a:latin typeface="Times New Roman"/>
                    <a:cs typeface="Times New Roman"/>
                  </a:rPr>
                  <a:t>Formulas: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>
                    <a:latin typeface="Times New Roman"/>
                    <a:cs typeface="Times New Roman"/>
                  </a:rPr>
                  <a:t>Law of Cosines: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𝑐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2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/>
                      </a:rPr>
                      <m:t>&lt;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𝑎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2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/>
                      </a:rPr>
                      <m:t>+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𝑏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b="0">
                    <a:latin typeface="Times New Roman"/>
                    <a:cs typeface="Times New Roman"/>
                  </a:rPr>
                  <a:t> (Acute Triangle)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𝑐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2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/>
                      </a:rPr>
                      <m:t>=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𝑎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2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/>
                      </a:rPr>
                      <m:t>+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𝑏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>
                    <a:latin typeface="Times New Roman"/>
                    <a:cs typeface="Times New Roman"/>
                  </a:rPr>
                  <a:t> (Right Triangle)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𝑐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2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/>
                      </a:rPr>
                      <m:t>&gt;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𝑎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2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/>
                      </a:rPr>
                      <m:t>+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𝑏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>
                    <a:latin typeface="Times New Roman"/>
                    <a:cs typeface="Times New Roman"/>
                  </a:rPr>
                  <a:t> (Obtuse Triangle)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>
                    <a:latin typeface="Times New Roman"/>
                    <a:cs typeface="Times New Roman"/>
                  </a:rPr>
                  <a:t>Area: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Times New Roman"/>
                          </a:rPr>
                          <m:t>2</m:t>
                        </m:r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/>
                      </a:rPr>
                      <m:t>|</m:t>
                    </m:r>
                    <m:r>
                      <m:rPr>
                        <m:sty m:val="p"/>
                      </m:rPr>
                      <a:rPr lang="en-US" sz="2000" b="0" i="1" smtClean="0">
                        <a:latin typeface="Cambria Math" panose="02040503050406030204" pitchFamily="18" charset="0"/>
                        <a:cs typeface="Times New Roman"/>
                      </a:rPr>
                      <m:t>AB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/>
                      </a:rPr>
                      <m:t>×</m:t>
                    </m:r>
                    <m:r>
                      <m:rPr>
                        <m:sty m:val="p"/>
                      </m:rPr>
                      <a:rPr lang="en-US" sz="2000" b="0" i="1" smtClean="0">
                        <a:latin typeface="Cambria Math" panose="02040503050406030204" pitchFamily="18" charset="0"/>
                        <a:cs typeface="Times New Roman"/>
                      </a:rPr>
                      <m:t>AC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/>
                      </a:rPr>
                      <m:t>|</m:t>
                    </m:r>
                  </m:oMath>
                </a14:m>
                <a:endParaRPr lang="en-US" sz="2000">
                  <a:latin typeface="Times New Roman"/>
                  <a:cs typeface="Times New Roman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7510FBB-5571-AB1B-BC1E-7FD22978F3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6523" y="2168454"/>
                <a:ext cx="5263863" cy="3296928"/>
              </a:xfrm>
              <a:prstGeom prst="rect">
                <a:avLst/>
              </a:prstGeom>
              <a:blipFill>
                <a:blip r:embed="rId2"/>
                <a:stretch>
                  <a:fillRect l="-1043" t="-1294" b="-3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22921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50D1C5B3-B60D-4696-AE60-100D5EC8A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3EDDF53-0851-48D4-A466-6FE0DCE91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2" cy="1576446"/>
            <a:chOff x="0" y="0"/>
            <a:chExt cx="12192002" cy="1576446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074D04C-85E8-4A3E-90D7-86A10AE048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097020A-86B6-43BD-A2AA-66AE72CA31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0C6C743-32FE-4E24-AA22-45D3B1C7C0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1A3EEF5-DF36-91D7-204F-748BEFCB1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407695"/>
            <a:ext cx="9724030" cy="834251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latin typeface="Times New Roman"/>
                <a:cs typeface="Times New Roman"/>
              </a:rPr>
              <a:t>Creating the Grid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8884F4A2-C49F-00F6-EE29-31A5D2056E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687" y="1906905"/>
            <a:ext cx="5219981" cy="435133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22B6DDF-F05A-9CC9-7DEE-D80D1E1A68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8960" y="1814479"/>
            <a:ext cx="6327471" cy="3997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4436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DF6C04-290C-B943-A64C-18B8F7186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Grid Display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9590B20-88A3-6922-7B6D-5854806BD3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289" y="2007389"/>
            <a:ext cx="5131088" cy="29888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1E97455-6702-3801-8BB5-7A6C51AC66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2145" y="1928621"/>
            <a:ext cx="5131087" cy="3348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9063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AF19A774-30A5-488B-9BAF-629C64402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4192" y="482489"/>
            <a:ext cx="304800" cy="429768"/>
            <a:chOff x="215328" y="-46937"/>
            <a:chExt cx="304800" cy="2773841"/>
          </a:xfrm>
        </p:grpSpPr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291EBF88-5B98-4258-A542-14C3AF2E52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8FBC2D58-9E3C-490D-BD7A-61EF07EA79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B6CF1BB4-1C1D-4EDE-BA26-0243FCF83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00C83729-E02F-4512-AFE7-F4792228BD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5BE0D975-7725-493F-8862-ED40C46BE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683F0D96-8CD4-4CDE-B0CC-6577972606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924C51D7-954A-4143-B39C-4752FA3B6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B491EF17-1635-4AEB-AC11-07BA2A1198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32F202BA-4686-4BC5-8CA5-60010A0FC9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753C14B0-1161-49D1-9AAC-B4BAD7436F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C8E96422-DF7F-4DB7-9786-EABEBF8BC6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F5EB30BB-9CF2-0967-F74C-B3A48D6BBA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313" y="338510"/>
            <a:ext cx="4170146" cy="3492497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248EF175-459A-9A38-01CD-A362BEEEF1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9111" y="338510"/>
            <a:ext cx="4735589" cy="3492497"/>
          </a:xfrm>
          <a:prstGeom prst="rect">
            <a:avLst/>
          </a:prstGeom>
        </p:spPr>
      </p:pic>
      <p:sp>
        <p:nvSpPr>
          <p:cNvPr id="47" name="Rectangle 46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D065E27-B6C5-7E5C-EB92-CC70A54D504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630936" y="4018137"/>
                <a:ext cx="4651076" cy="2129586"/>
              </a:xfrm>
              <a:noFill/>
            </p:spPr>
            <p:txBody>
              <a:bodyPr anchor="t"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sz="4800" b="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/>
                      </a:rPr>
                      <m:t>2×2×2</m:t>
                    </m:r>
                  </m:oMath>
                </a14:m>
                <a:r>
                  <a:rPr lang="en-US" sz="4800">
                    <a:solidFill>
                      <a:schemeClr val="bg1"/>
                    </a:solidFill>
                    <a:latin typeface="Times New Roman"/>
                    <a:cs typeface="Times New Roman"/>
                  </a:rPr>
                  <a:t> Case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D065E27-B6C5-7E5C-EB92-CC70A54D50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30936" y="4018137"/>
                <a:ext cx="4651076" cy="2129586"/>
              </a:xfrm>
              <a:blipFill>
                <a:blip r:embed="rId4"/>
                <a:stretch>
                  <a:fillRect t="-97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A02FA-7927-0B5D-1205-7FE4D5F86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080" y="4018143"/>
            <a:ext cx="5994666" cy="2129599"/>
          </a:xfrm>
          <a:noFill/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1800">
                <a:solidFill>
                  <a:schemeClr val="bg1"/>
                </a:solidFill>
                <a:latin typeface="Times New Roman"/>
                <a:cs typeface="Times New Roman"/>
              </a:rPr>
              <a:t>In this case we’ve found the following:</a:t>
            </a:r>
          </a:p>
          <a:p>
            <a:r>
              <a:rPr lang="en-US" sz="1800">
                <a:solidFill>
                  <a:schemeClr val="bg1"/>
                </a:solidFill>
                <a:latin typeface="Times New Roman"/>
                <a:cs typeface="Times New Roman"/>
              </a:rPr>
              <a:t>Number of non-triangles: 0</a:t>
            </a:r>
          </a:p>
          <a:p>
            <a:r>
              <a:rPr lang="en-US" sz="1800">
                <a:solidFill>
                  <a:schemeClr val="bg1"/>
                </a:solidFill>
                <a:latin typeface="Times New Roman"/>
                <a:cs typeface="Times New Roman"/>
              </a:rPr>
              <a:t>Number of right triangles: 48</a:t>
            </a:r>
          </a:p>
          <a:p>
            <a:r>
              <a:rPr lang="en-US" sz="1800">
                <a:solidFill>
                  <a:schemeClr val="bg1"/>
                </a:solidFill>
                <a:latin typeface="Times New Roman"/>
                <a:cs typeface="Times New Roman"/>
              </a:rPr>
              <a:t>Number of acute triangles: 8</a:t>
            </a:r>
          </a:p>
          <a:p>
            <a:r>
              <a:rPr lang="en-US" sz="1800">
                <a:solidFill>
                  <a:schemeClr val="bg1"/>
                </a:solidFill>
                <a:latin typeface="Times New Roman"/>
                <a:cs typeface="Times New Roman"/>
              </a:rPr>
              <a:t>Number of obtuse triangles: 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9B8F11-056E-812E-672E-D9E5563DF43C}"/>
              </a:ext>
            </a:extLst>
          </p:cNvPr>
          <p:cNvSpPr txBox="1"/>
          <p:nvPr/>
        </p:nvSpPr>
        <p:spPr>
          <a:xfrm>
            <a:off x="630936" y="3667432"/>
            <a:ext cx="4167206" cy="381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669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F277EAE-FC73-4AE5-9BDB-0BE814F954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66CC8DCE-8D82-400F-A315-4CD008FDA6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39B13E9-2F1D-489D-842D-20AC7313D1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1E7447BD-F39C-4290-8A87-E61FD98A28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AEB36854-40EE-40C4-A488-60EAA83B27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77165098-3853-4969-9EAF-796B9751F2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A7EF9153-D515-4DA2-A63C-58C0298309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9937146A-A6FE-D0F7-EEEE-62565BE82F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05" r="-1" b="-1"/>
          <a:stretch>
            <a:fillRect/>
          </a:stretch>
        </p:blipFill>
        <p:spPr>
          <a:xfrm>
            <a:off x="600456" y="412377"/>
            <a:ext cx="2647399" cy="3162778"/>
          </a:xfrm>
          <a:prstGeom prst="rect">
            <a:avLst/>
          </a:pr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AF19A774-30A5-488B-9BAF-629C64402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0585" y="561296"/>
            <a:ext cx="304800" cy="429768"/>
            <a:chOff x="215328" y="-46937"/>
            <a:chExt cx="304800" cy="2773841"/>
          </a:xfrm>
        </p:grpSpPr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91EBF88-5B98-4258-A542-14C3AF2E52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8FBC2D58-9E3C-490D-BD7A-61EF07EA79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6CF1BB4-1C1D-4EDE-BA26-0243FCF83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00C83729-E02F-4512-AFE7-F4792228BD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66778DE0-6AF5-5BC2-5D55-63C24A3CA1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7" r="-5" b="-5"/>
          <a:stretch>
            <a:fillRect/>
          </a:stretch>
        </p:blipFill>
        <p:spPr>
          <a:xfrm>
            <a:off x="3343738" y="412377"/>
            <a:ext cx="2647399" cy="316277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DCC8323-3430-223F-BE80-407BA2F599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3" b="5186"/>
          <a:stretch>
            <a:fillRect/>
          </a:stretch>
        </p:blipFill>
        <p:spPr>
          <a:xfrm>
            <a:off x="6087020" y="412377"/>
            <a:ext cx="2647399" cy="3162778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69989900-332E-6145-E479-D14BF1B79F1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68" r="5382" b="6"/>
          <a:stretch>
            <a:fillRect/>
          </a:stretch>
        </p:blipFill>
        <p:spPr>
          <a:xfrm>
            <a:off x="8830303" y="412377"/>
            <a:ext cx="2647399" cy="3162778"/>
          </a:xfrm>
          <a:prstGeom prst="rect">
            <a:avLst/>
          </a:prstGeom>
        </p:spPr>
      </p:pic>
      <p:sp>
        <p:nvSpPr>
          <p:cNvPr id="47" name="Rectangle 46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E29D174-7222-1E6D-7166-41A5BABD540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630936" y="4018137"/>
                <a:ext cx="4550664" cy="2129586"/>
              </a:xfrm>
              <a:noFill/>
            </p:spPr>
            <p:txBody>
              <a:bodyPr anchor="t"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sz="4800" b="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2×2×3</m:t>
                    </m:r>
                  </m:oMath>
                </a14:m>
                <a:r>
                  <a:rPr lang="en-US" sz="480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Case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E29D174-7222-1E6D-7166-41A5BABD54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30936" y="4018137"/>
                <a:ext cx="4550664" cy="2129586"/>
              </a:xfrm>
              <a:blipFill>
                <a:blip r:embed="rId6"/>
                <a:stretch>
                  <a:fillRect t="-97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FCAC893-D5D5-D6FF-5F5A-D0641EDE62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504476" y="4036966"/>
                <a:ext cx="5994666" cy="2479098"/>
              </a:xfrm>
              <a:noFill/>
            </p:spPr>
            <p:txBody>
              <a:bodyPr anchor="t"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sz="180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this case, we have found that:</a:t>
                </a:r>
              </a:p>
              <a:p>
                <a:r>
                  <a:rPr lang="en-US" sz="180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Number of non-triangles: 4</a:t>
                </a:r>
              </a:p>
              <a:p>
                <a:r>
                  <a:rPr lang="en-US" sz="180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Number of right triangles: 156</a:t>
                </a:r>
              </a:p>
              <a:p>
                <a:r>
                  <a:rPr lang="en-US" sz="180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Number of acute triangles: 28</a:t>
                </a:r>
              </a:p>
              <a:p>
                <a:r>
                  <a:rPr lang="en-US" sz="180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Number of obtuse triangles: 32</a:t>
                </a:r>
              </a:p>
              <a:p>
                <a:pPr marL="0" indent="0">
                  <a:buNone/>
                </a:pPr>
                <a:endParaRPr lang="en-US" sz="180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180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number of non-triangles in the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2×2×</m:t>
                    </m:r>
                    <m:r>
                      <m:rPr>
                        <m:sty m:val="p"/>
                      </m:rP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n</m:t>
                    </m:r>
                  </m:oMath>
                </a14:m>
                <a:r>
                  <a:rPr lang="en-US" sz="180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case is given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2×2×</m:t>
                        </m:r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=4(</m:t>
                    </m:r>
                    <m:f>
                      <m:fPr>
                        <m:type m:val="noBar"/>
                        <m:ctrlP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n</m:t>
                        </m:r>
                      </m:num>
                      <m:den>
                        <m:r>
                          <a:rPr lang="en-US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den>
                    </m:f>
                    <m:r>
                      <a:rPr lang="en-US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sz="1800" b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180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180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180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FCAC893-D5D5-D6FF-5F5A-D0641EDE62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04476" y="4036966"/>
                <a:ext cx="5994666" cy="2479098"/>
              </a:xfrm>
              <a:blipFill>
                <a:blip r:embed="rId7"/>
                <a:stretch>
                  <a:fillRect l="-712" t="-34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4941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636496-623F-0E96-45CD-9F6BEDBD8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Hurdles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133F2-446B-D01D-F327-F3DFADB4F7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Ensuring that we are in-sync with the programs in correctly counting and identifying each potential triangle in a given grid</a:t>
            </a: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Ensuring programs will allow for efficient and effective analysis of higher dimension lattices</a:t>
            </a:r>
          </a:p>
          <a:p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79074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BAE7F0-6BDA-A559-BCF7-2BA398A4E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latin typeface="Times New Roman"/>
                <a:cs typeface="Times New Roman"/>
              </a:rPr>
              <a:t>Acknowledgement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9F2943-2E88-8752-4BBF-282CAFB6B1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600">
                <a:highlight>
                  <a:srgbClr val="FFFFFF"/>
                </a:highlight>
                <a:latin typeface="Times New Roman"/>
                <a:ea typeface="Calibri"/>
                <a:cs typeface="Times New Roman"/>
              </a:rPr>
              <a:t>This research was made possible by the NASA West Virginia Space Grant Consortium, Grant #80NSSC25M7079.</a:t>
            </a:r>
          </a:p>
          <a:p>
            <a:pPr marL="0" indent="0">
              <a:buNone/>
            </a:pPr>
            <a:endParaRPr lang="en-US" sz="1100">
              <a:highlight>
                <a:srgbClr val="FFFFFF"/>
              </a:highlight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479988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0CF523D16A23E40A2571D67CC914B15" ma:contentTypeVersion="13" ma:contentTypeDescription="Create a new document." ma:contentTypeScope="" ma:versionID="8d139d82b63b65940f45cd4ce73140eb">
  <xsd:schema xmlns:xsd="http://www.w3.org/2001/XMLSchema" xmlns:xs="http://www.w3.org/2001/XMLSchema" xmlns:p="http://schemas.microsoft.com/office/2006/metadata/properties" xmlns:ns3="0e78c8d3-1a98-4640-b738-1873d0dec798" xmlns:ns4="c7ca6b51-2793-4084-b761-66b2c2144823" targetNamespace="http://schemas.microsoft.com/office/2006/metadata/properties" ma:root="true" ma:fieldsID="b12fc73810ee301d40a15f8402649391" ns3:_="" ns4:_="">
    <xsd:import namespace="0e78c8d3-1a98-4640-b738-1873d0dec798"/>
    <xsd:import namespace="c7ca6b51-2793-4084-b761-66b2c2144823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78c8d3-1a98-4640-b738-1873d0dec7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ca6b51-2793-4084-b761-66b2c2144823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e78c8d3-1a98-4640-b738-1873d0dec798" xsi:nil="true"/>
  </documentManagement>
</p:properties>
</file>

<file path=customXml/itemProps1.xml><?xml version="1.0" encoding="utf-8"?>
<ds:datastoreItem xmlns:ds="http://schemas.openxmlformats.org/officeDocument/2006/customXml" ds:itemID="{3A21C540-5202-406C-B0C1-0EE65A8E8CA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e78c8d3-1a98-4640-b738-1873d0dec798"/>
    <ds:schemaRef ds:uri="c7ca6b51-2793-4084-b761-66b2c214482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F7E64A5-F29C-4BE8-BFCF-9F4F049323A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52D3AEA-54D2-40DD-B821-3343C80BFB9A}">
  <ds:schemaRefs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0e78c8d3-1a98-4640-b738-1873d0dec798"/>
    <ds:schemaRef ds:uri="c7ca6b51-2793-4084-b761-66b2c2144823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627</Words>
  <Application>Microsoft Office PowerPoint</Application>
  <PresentationFormat>Widescreen</PresentationFormat>
  <Paragraphs>86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Cambria Math</vt:lpstr>
      <vt:lpstr>Times New Roman</vt:lpstr>
      <vt:lpstr>office theme</vt:lpstr>
      <vt:lpstr>Analyzing a Triangle Problem on Finite 3-Dimensional Lattices</vt:lpstr>
      <vt:lpstr>Background</vt:lpstr>
      <vt:lpstr>Foundation</vt:lpstr>
      <vt:lpstr>Fundamentals of Vectors</vt:lpstr>
      <vt:lpstr>Computing Angles</vt:lpstr>
      <vt:lpstr>Triangle Classifications</vt:lpstr>
      <vt:lpstr>Visualizing the Grid</vt:lpstr>
      <vt:lpstr>Creating the Grid</vt:lpstr>
      <vt:lpstr>Grid Display</vt:lpstr>
      <vt:lpstr>2×2×2 Case</vt:lpstr>
      <vt:lpstr>2×2×3 Case</vt:lpstr>
      <vt:lpstr>Current Hurdles</vt:lpstr>
      <vt:lpstr>Acknowledgement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Javier Khaaliq</dc:creator>
  <cp:lastModifiedBy>Khaaliq, Javier</cp:lastModifiedBy>
  <cp:revision>2</cp:revision>
  <dcterms:created xsi:type="dcterms:W3CDTF">2026-03-21T16:14:06Z</dcterms:created>
  <dcterms:modified xsi:type="dcterms:W3CDTF">2026-04-30T00:19:44Z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0x01010030CF523D16A23E40A2571D67CC914B15</vt:lpwstr>
  </property>
</Properties>
</file>