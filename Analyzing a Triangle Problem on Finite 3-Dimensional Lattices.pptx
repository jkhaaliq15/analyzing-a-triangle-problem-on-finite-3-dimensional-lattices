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8" r:id="rId4"/>
    <p:sldId id="259" r:id="rId5"/>
    <p:sldId id="264" r:id="rId6"/>
    <p:sldId id="260" r:id="rId7"/>
    <p:sldId id="265" r:id="rId8"/>
    <p:sldId id="266" r:id="rId9"/>
    <p:sldId id="261" r:id="rId10"/>
    <p:sldId id="267" r:id="rId11"/>
    <p:sldId id="269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60C5A-CD8E-051F-BA90-577CE4B72FB1}" v="8" dt="2026-03-27T23:28:29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  <a:latin typeface="Times New Roman"/>
                <a:cs typeface="Times New Roman"/>
              </a:rPr>
              <a:t>Analyzing a Triangle Problem on Finite 3-Dimensional Lattices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Javier Khaaliq, Nathaniel Johnson</a:t>
            </a:r>
          </a:p>
          <a:p>
            <a:pPr algn="l"/>
            <a:r>
              <a:rPr lang="en-US">
                <a:latin typeface="Times New Roman"/>
                <a:cs typeface="Times New Roman"/>
              </a:rPr>
              <a:t>Advisor: Dr. Robert Niichel</a:t>
            </a:r>
          </a:p>
          <a:p>
            <a:pPr algn="l"/>
            <a:r>
              <a:rPr lang="en-US">
                <a:latin typeface="Times New Roman"/>
                <a:cs typeface="Times New Roman"/>
              </a:rPr>
              <a:t>Fairmont State University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A8536-8AE8-2602-FC6A-2F1952BC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509C3-D8A6-7B29-29B6-34FF84226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t">
            <a:norm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Problem posed by Lewis Carroll in 1893: 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“Choosing three random points on the infinite plane, what is the probability the triangle formed is obtuse?”</a:t>
            </a:r>
          </a:p>
          <a:p>
            <a:r>
              <a:rPr lang="en-US" sz="2000">
                <a:latin typeface="Times New Roman"/>
                <a:cs typeface="Times New Roman"/>
              </a:rPr>
              <a:t>Our adaptation: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“Choosing three random points on a n-by-n grid, what is the probability the triangle formed is obtuse?”</a:t>
            </a:r>
          </a:p>
          <a:p>
            <a:r>
              <a:rPr lang="en-US" sz="2000">
                <a:latin typeface="Times New Roman"/>
                <a:cs typeface="Times New Roman"/>
              </a:rPr>
              <a:t>Continuation of previous work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First step toward generalizing work in 2D into 3D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Creating the foundation for future researchers to assist developing theorems.</a:t>
            </a:r>
          </a:p>
          <a:p>
            <a:pPr lvl="1"/>
            <a:endParaRPr lang="en-US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980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9DBF4-E436-B939-4C58-D0180D7CA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B15C-CD42-C584-92B8-DDA4782A1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Holding two coordinates constant and allowing the third to approach infinity, we investigate the allowed triangles and non-triangles that will fit within the created lattice grid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following classifications: non-triangle (three or more collinear points), right triangle, acute triangle, obtuse triangle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Goal: Find a limiting probability for the total number of triangles and non-triangles and the individual limiting probabilities for each classification within the grid</a:t>
            </a:r>
          </a:p>
        </p:txBody>
      </p:sp>
    </p:spTree>
    <p:extLst>
      <p:ext uri="{BB962C8B-B14F-4D97-AF65-F5344CB8AC3E}">
        <p14:creationId xmlns:p14="http://schemas.microsoft.com/office/powerpoint/2010/main" val="116179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D6764-8227-0FD3-393E-0EC62A01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Computing Angles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4888B-8D6E-8FC4-C3A7-C1D37CA46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580" y="2318197"/>
            <a:ext cx="2792969" cy="3683358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Program Methodology:</a:t>
            </a:r>
          </a:p>
          <a:p>
            <a:r>
              <a:rPr lang="en-US" sz="2000">
                <a:latin typeface="Times New Roman"/>
                <a:cs typeface="Times New Roman"/>
              </a:rPr>
              <a:t>Generate a list with all possible point combinations</a:t>
            </a:r>
          </a:p>
          <a:p>
            <a:r>
              <a:rPr lang="en-US" sz="2000">
                <a:latin typeface="Times New Roman"/>
                <a:cs typeface="Times New Roman"/>
              </a:rPr>
              <a:t>Iterate through the point list to generate all possible vectors</a:t>
            </a:r>
          </a:p>
          <a:p>
            <a:r>
              <a:rPr lang="en-US" sz="2000">
                <a:latin typeface="Times New Roman"/>
                <a:cs typeface="Times New Roman"/>
              </a:rPr>
              <a:t>Classify and record triangle type using vector information</a:t>
            </a:r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1D1E4EA-6C08-CD91-137B-B4691607DD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7039" y="2318197"/>
                <a:ext cx="2792969" cy="3683358"/>
              </a:xfrm>
              <a:prstGeom prst="rect">
                <a:avLst/>
              </a:prstGeom>
            </p:spPr>
            <p:txBody>
              <a:bodyPr vert="horz" lIns="91440" tIns="45720" rIns="91440" bIns="45720" numCol="1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>
                    <a:latin typeface="Times New Roman"/>
                    <a:cs typeface="Times New Roman"/>
                  </a:rPr>
                  <a:t>Triangle Classification:</a:t>
                </a:r>
              </a:p>
              <a:p>
                <a:r>
                  <a:rPr lang="en-US" sz="2000">
                    <a:latin typeface="Times New Roman"/>
                    <a:cs typeface="Times New Roman"/>
                  </a:rPr>
                  <a:t>Law of Cosines</a:t>
                </a:r>
              </a:p>
              <a:p>
                <a:pPr lvl="1"/>
                <a:r>
                  <a:rPr lang="en-US" sz="1600">
                    <a:latin typeface="Times New Roman"/>
                    <a:cs typeface="Times New Roman"/>
                  </a:rPr>
                  <a:t>Use the side lengths to find all angles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  <a:cs typeface="Times New Roman"/>
                          </a:rPr>
                          <m:t>cos</m:t>
                        </m:r>
                      </m:fName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= 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𝑎𝑏</m:t>
                            </m:r>
                          </m:den>
                        </m:f>
                      </m:e>
                    </m:func>
                  </m:oMath>
                </a14:m>
                <a:endParaRPr lang="en-US" sz="1600">
                  <a:latin typeface="Times New Roman"/>
                  <a:cs typeface="Times New Roman"/>
                </a:endParaRPr>
              </a:p>
              <a:p>
                <a:r>
                  <a:rPr lang="en-US" sz="2000">
                    <a:latin typeface="Times New Roman"/>
                    <a:cs typeface="Times New Roman"/>
                  </a:rPr>
                  <a:t>Dot Product</a:t>
                </a:r>
              </a:p>
              <a:p>
                <a:pPr lvl="1"/>
                <a:r>
                  <a:rPr lang="en-US" sz="1600">
                    <a:latin typeface="Times New Roman"/>
                    <a:cs typeface="Times New Roman"/>
                  </a:rPr>
                  <a:t>Use the relation to cosine to find all angles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  <a:cs typeface="Times New Roman"/>
                          </a:rPr>
                          <m:t>cos</m:t>
                        </m:r>
                      </m:fName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𝜃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cs typeface="Times New Roman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𝑣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𝑢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∗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𝑣</m:t>
                            </m:r>
                          </m:e>
                        </m:d>
                      </m:den>
                    </m:f>
                  </m:oMath>
                </a14:m>
                <a:endParaRPr lang="en-US" sz="1600">
                  <a:latin typeface="Times New Roman"/>
                  <a:cs typeface="Times New Roman"/>
                </a:endParaRPr>
              </a:p>
              <a:p>
                <a:pPr lvl="1"/>
                <a:endParaRPr lang="en-US" sz="160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1D1E4EA-6C08-CD91-137B-B4691607D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039" y="2318197"/>
                <a:ext cx="2792969" cy="3683358"/>
              </a:xfrm>
              <a:prstGeom prst="rect">
                <a:avLst/>
              </a:prstGeom>
              <a:blipFill>
                <a:blip r:embed="rId2"/>
                <a:stretch>
                  <a:fillRect l="-2183" t="-1653" r="-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6E3A9C8-23EC-29ED-1C08-5FB90D0E8D37}"/>
              </a:ext>
            </a:extLst>
          </p:cNvPr>
          <p:cNvGrpSpPr/>
          <p:nvPr/>
        </p:nvGrpSpPr>
        <p:grpSpPr>
          <a:xfrm>
            <a:off x="7408500" y="2131581"/>
            <a:ext cx="4387836" cy="1237792"/>
            <a:chOff x="7379680" y="2318197"/>
            <a:chExt cx="4387836" cy="123779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4FC078-96AF-C1BB-CD44-5BD273C647D6}"/>
                </a:ext>
              </a:extLst>
            </p:cNvPr>
            <p:cNvSpPr txBox="1"/>
            <p:nvPr/>
          </p:nvSpPr>
          <p:spPr>
            <a:xfrm>
              <a:off x="7379680" y="3217435"/>
              <a:ext cx="43878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Output for a 2x2x2 Lattice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5338DB-D2BB-5890-2809-04BEDE988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08498" y="2318197"/>
              <a:ext cx="4359018" cy="899238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CF83CB-53EE-92FD-56A6-4E5A131B3DE5}"/>
              </a:ext>
            </a:extLst>
          </p:cNvPr>
          <p:cNvGrpSpPr/>
          <p:nvPr/>
        </p:nvGrpSpPr>
        <p:grpSpPr>
          <a:xfrm>
            <a:off x="7408498" y="4989376"/>
            <a:ext cx="4387835" cy="1321093"/>
            <a:chOff x="7379678" y="5175992"/>
            <a:chExt cx="4387835" cy="132109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C86B6E7-3FDF-1DEC-C413-D8E8715A3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9678" y="5175992"/>
              <a:ext cx="4343776" cy="93734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2A0904-25C2-6185-28DC-702DB229793F}"/>
                </a:ext>
              </a:extLst>
            </p:cNvPr>
            <p:cNvSpPr txBox="1"/>
            <p:nvPr/>
          </p:nvSpPr>
          <p:spPr>
            <a:xfrm>
              <a:off x="7379678" y="6158531"/>
              <a:ext cx="43878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Output for a 4x4x4 Lattice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23C6C7-14E0-7EEE-9BEB-C11B9F653C07}"/>
              </a:ext>
            </a:extLst>
          </p:cNvPr>
          <p:cNvGrpSpPr/>
          <p:nvPr/>
        </p:nvGrpSpPr>
        <p:grpSpPr>
          <a:xfrm>
            <a:off x="7408499" y="3569986"/>
            <a:ext cx="4387837" cy="1218777"/>
            <a:chOff x="7379679" y="3742740"/>
            <a:chExt cx="4387837" cy="121877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F1601B3-F5E3-6828-1D7A-CBE29F9EC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08498" y="3742740"/>
              <a:ext cx="4359018" cy="89923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0E7CCE-7B10-A753-624C-EE4AD94B8F3D}"/>
                </a:ext>
              </a:extLst>
            </p:cNvPr>
            <p:cNvSpPr txBox="1"/>
            <p:nvPr/>
          </p:nvSpPr>
          <p:spPr>
            <a:xfrm>
              <a:off x="7379679" y="4622963"/>
              <a:ext cx="43878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Output for a 3x3x3 Lattice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321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8C562-A549-7FDE-CBC7-2A3B305E8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B476C7-952B-A14D-1661-47E70EB19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A7716-5950-CC48-002B-80F0C695F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835963-99B1-4A8F-87F6-D3A2AD72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FE61AE-5A72-DD1A-B0AA-A69F53B28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924A1B-85FF-7DB6-B974-A0C58BCB7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E42231-93DF-F518-2063-4DC7E39C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Triangle Classifications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13600F7-2739-7758-D7F9-469FAE2EE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882" y="1934544"/>
            <a:ext cx="5425910" cy="47517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AD8DE0A-8FDE-B5EE-DF73-02C2B254D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9" y="1927574"/>
            <a:ext cx="6641264" cy="47517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C269B22-EE23-1060-702E-8774A8E4A4ED}"/>
              </a:ext>
            </a:extLst>
          </p:cNvPr>
          <p:cNvSpPr txBox="1"/>
          <p:nvPr/>
        </p:nvSpPr>
        <p:spPr>
          <a:xfrm>
            <a:off x="1808712" y="1532433"/>
            <a:ext cx="302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Dot Product Classification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F3E463-B913-DA77-6595-8EBFB991BAD2}"/>
              </a:ext>
            </a:extLst>
          </p:cNvPr>
          <p:cNvSpPr txBox="1"/>
          <p:nvPr/>
        </p:nvSpPr>
        <p:spPr>
          <a:xfrm>
            <a:off x="7813720" y="1558242"/>
            <a:ext cx="326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Law of Cosines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5518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D0374-B3A9-88D0-2ABF-B273223C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Visualizing the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BAFAF-560E-0B17-6A57-431B6FCA8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13080"/>
            <a:ext cx="4961531" cy="428847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000" b="1" u="sng">
                <a:latin typeface="Times New Roman"/>
                <a:cs typeface="Times New Roman"/>
              </a:rPr>
              <a:t>Program Methodology</a:t>
            </a:r>
            <a:endParaRPr lang="en-US" b="1" u="sng"/>
          </a:p>
          <a:p>
            <a:pPr marL="342900" indent="-342900"/>
            <a:r>
              <a:rPr lang="en-US" sz="2000" u="sng">
                <a:latin typeface="Times New Roman"/>
                <a:cs typeface="Times New Roman"/>
              </a:rPr>
              <a:t>GUI:</a:t>
            </a:r>
            <a:r>
              <a:rPr lang="en-US" sz="2000">
                <a:latin typeface="Times New Roman"/>
                <a:cs typeface="Times New Roman"/>
              </a:rPr>
              <a:t> Simple user interface which allows for repeated use without rerunning code</a:t>
            </a:r>
          </a:p>
          <a:p>
            <a:pPr marL="342900" indent="-342900"/>
            <a:r>
              <a:rPr lang="en-US" sz="2000" u="sng">
                <a:latin typeface="Times New Roman"/>
                <a:cs typeface="Times New Roman"/>
              </a:rPr>
              <a:t>Random/Manual Mode:</a:t>
            </a:r>
            <a:r>
              <a:rPr lang="en-US" sz="2000">
                <a:latin typeface="Times New Roman"/>
                <a:cs typeface="Times New Roman"/>
              </a:rPr>
              <a:t> Allows for user input to generate a specific triangle using coordinates or generates a random triangle</a:t>
            </a:r>
            <a:endParaRPr lang="en-US"/>
          </a:p>
          <a:p>
            <a:pPr marL="342900" indent="-342900"/>
            <a:r>
              <a:rPr lang="en-US" sz="2000" u="sng">
                <a:latin typeface="Times New Roman"/>
                <a:cs typeface="Times New Roman"/>
              </a:rPr>
              <a:t>Triangle Classification:</a:t>
            </a:r>
            <a:r>
              <a:rPr lang="en-US" sz="2000">
                <a:latin typeface="Times New Roman"/>
                <a:cs typeface="Times New Roman"/>
              </a:rPr>
              <a:t> Determines the type of triangle using Law of Cosines</a:t>
            </a:r>
          </a:p>
          <a:p>
            <a:pPr marL="342900" indent="-342900"/>
            <a:r>
              <a:rPr lang="en-US" sz="2000" u="sng">
                <a:latin typeface="Times New Roman"/>
                <a:cs typeface="Times New Roman"/>
              </a:rPr>
              <a:t>Viewing:</a:t>
            </a:r>
            <a:r>
              <a:rPr lang="en-US" sz="2000">
                <a:latin typeface="Times New Roman"/>
                <a:cs typeface="Times New Roman"/>
              </a:rPr>
              <a:t> Shows grid, points, and allows for deeper visual analysis of a specific 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510FBB-5571-AB1B-BC1E-7FD22978F3FA}"/>
                  </a:ext>
                </a:extLst>
              </p:cNvPr>
              <p:cNvSpPr txBox="1"/>
              <p:nvPr/>
            </p:nvSpPr>
            <p:spPr>
              <a:xfrm>
                <a:off x="6436523" y="2168454"/>
                <a:ext cx="5263863" cy="237359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000" b="1" u="sng">
                    <a:latin typeface="Times New Roman"/>
                    <a:cs typeface="Times New Roman"/>
                  </a:rPr>
                  <a:t>Program Creation:</a:t>
                </a:r>
                <a:endParaRPr lang="en-US" b="1" u="sng"/>
              </a:p>
              <a:p>
                <a:pPr marL="342900" indent="-342900">
                  <a:buFont typeface="Arial"/>
                  <a:buChar char="•"/>
                </a:pPr>
                <a:r>
                  <a:rPr lang="en-US" sz="2000" u="sng">
                    <a:latin typeface="Times New Roman"/>
                    <a:cs typeface="Times New Roman"/>
                  </a:rPr>
                  <a:t>Language:</a:t>
                </a:r>
                <a:r>
                  <a:rPr lang="en-US" sz="2000">
                    <a:latin typeface="Times New Roman"/>
                    <a:cs typeface="Times New Roman"/>
                  </a:rPr>
                  <a:t> Python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2000" u="sng">
                    <a:latin typeface="Times New Roman"/>
                    <a:cs typeface="Times New Roman"/>
                  </a:rPr>
                  <a:t>Libraries:</a:t>
                </a:r>
                <a:r>
                  <a:rPr lang="en-US" sz="2000">
                    <a:latin typeface="Times New Roman"/>
                    <a:cs typeface="Times New Roman"/>
                  </a:rPr>
                  <a:t> </a:t>
                </a:r>
                <a:r>
                  <a:rPr lang="en-US" sz="2000" err="1">
                    <a:latin typeface="Times New Roman"/>
                    <a:cs typeface="Times New Roman"/>
                  </a:rPr>
                  <a:t>Plotly</a:t>
                </a:r>
                <a:r>
                  <a:rPr lang="en-US" sz="2000">
                    <a:latin typeface="Times New Roman"/>
                    <a:cs typeface="Times New Roman"/>
                  </a:rPr>
                  <a:t> (visualization), Dash (GUI)</a:t>
                </a:r>
              </a:p>
              <a:p>
                <a:pPr marL="342900" indent="-342900">
                  <a:buFont typeface="Arial"/>
                  <a:buChar char="•"/>
                </a:pPr>
                <a:endParaRPr lang="en-US" sz="2000">
                  <a:latin typeface="Times New Roman"/>
                  <a:cs typeface="Times New Roman"/>
                </a:endParaRPr>
              </a:p>
              <a:p>
                <a:pPr algn="ctr"/>
                <a:r>
                  <a:rPr lang="en-US" sz="2000" b="1" u="sng">
                    <a:latin typeface="Times New Roman"/>
                    <a:cs typeface="Times New Roman"/>
                  </a:rPr>
                  <a:t>Formulas: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>
                    <a:latin typeface="Times New Roman"/>
                    <a:cs typeface="Times New Roman"/>
                  </a:rPr>
                  <a:t>Law of Cosines: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/>
                      </a:rPr>
                      <m:t> 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c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a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b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+2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abcos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)</m:t>
                    </m:r>
                  </m:oMath>
                </a14:m>
                <a:endParaRPr lang="en-US" sz="2000">
                  <a:latin typeface="Times New Roman"/>
                  <a:cs typeface="Times New Roman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>
                    <a:latin typeface="Times New Roman"/>
                    <a:cs typeface="Times New Roman"/>
                  </a:rPr>
                  <a:t>Area: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|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AB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AC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|</m:t>
                    </m:r>
                  </m:oMath>
                </a14:m>
                <a:endParaRPr lang="en-US" sz="200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510FBB-5571-AB1B-BC1E-7FD22978F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523" y="2168454"/>
                <a:ext cx="5263863" cy="2373598"/>
              </a:xfrm>
              <a:prstGeom prst="rect">
                <a:avLst/>
              </a:prstGeom>
              <a:blipFill>
                <a:blip r:embed="rId2"/>
                <a:stretch>
                  <a:fillRect l="-1043" t="-1799" b="-1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29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A3EEF5-DF36-91D7-204F-748BEFCB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Creating the Grid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84F4A2-C49F-00F6-EE29-31A5D2056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87" y="1906905"/>
            <a:ext cx="5219981" cy="43513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2B6DDF-F05A-9CC9-7DEE-D80D1E1A6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60" y="1814479"/>
            <a:ext cx="6327471" cy="39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43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F6C04-290C-B943-A64C-18B8F718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Displaying the Grid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590B20-88A3-6922-7B6D-5854806BD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685815"/>
            <a:ext cx="5131088" cy="2988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E97455-6702-3801-8BB5-7A6C51AC6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542713"/>
            <a:ext cx="5131087" cy="334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06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BE0D975-7725-493F-8862-ED40C46BE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83F0D96-8CD4-4CDE-B0CC-657797260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24C51D7-954A-4143-B39C-4752FA3B6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491EF17-1635-4AEB-AC11-07BA2A119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2F202BA-4686-4BC5-8CA5-60010A0F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53C14B0-1161-49D1-9AAC-B4BAD7436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8E96422-DF7F-4DB7-9786-EABEBF8BC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5EB30BB-9CF2-0967-F74C-B3A48D6BB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13" y="338510"/>
            <a:ext cx="4170146" cy="3492497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48EF175-459A-9A38-01CD-A362BEEEF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111" y="338510"/>
            <a:ext cx="4735589" cy="3492497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065E27-B6C5-7E5C-EB92-CC70A54D50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30936" y="4018137"/>
                <a:ext cx="4651076" cy="2129586"/>
              </a:xfrm>
              <a:noFill/>
            </p:spPr>
            <p:txBody>
              <a:bodyPr anchor="t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/>
                      </a:rPr>
                      <m:t>2×2×2</m:t>
                    </m:r>
                  </m:oMath>
                </a14:m>
                <a:r>
                  <a:rPr lang="en-US" sz="480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Case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065E27-B6C5-7E5C-EB92-CC70A54D5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30936" y="4018137"/>
                <a:ext cx="4651076" cy="2129586"/>
              </a:xfrm>
              <a:blipFill>
                <a:blip r:embed="rId4"/>
                <a:stretch>
                  <a:fillRect t="-9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A02FA-7927-0B5D-1205-7FE4D5F86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994666" cy="2129599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In this case we’ve found the following:</a:t>
            </a:r>
          </a:p>
          <a:p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Number of non-triangles: 0</a:t>
            </a:r>
          </a:p>
          <a:p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Number of right triangles: 48</a:t>
            </a:r>
          </a:p>
          <a:p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Number of acute triangles: 8</a:t>
            </a:r>
          </a:p>
          <a:p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Number of obtuse triangles: 0</a:t>
            </a:r>
          </a:p>
        </p:txBody>
      </p:sp>
    </p:spTree>
    <p:extLst>
      <p:ext uri="{BB962C8B-B14F-4D97-AF65-F5344CB8AC3E}">
        <p14:creationId xmlns:p14="http://schemas.microsoft.com/office/powerpoint/2010/main" val="367766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277EAE-FC73-4AE5-9BDB-0BE814F95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6CC8DCE-8D82-400F-A315-4CD008FDA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39B13E9-2F1D-489D-842D-20AC7313D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E7447BD-F39C-4290-8A87-E61FD98A2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EB36854-40EE-40C4-A488-60EAA83B2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7165098-3853-4969-9EAF-796B9751F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7EF9153-D515-4DA2-A63C-58C029830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937146A-A6FE-D0F7-EEEE-62565BE82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5" r="-1" b="-1"/>
          <a:stretch>
            <a:fillRect/>
          </a:stretch>
        </p:blipFill>
        <p:spPr>
          <a:xfrm>
            <a:off x="600456" y="412377"/>
            <a:ext cx="2647399" cy="316277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0585" y="561296"/>
            <a:ext cx="304800" cy="429768"/>
            <a:chOff x="215328" y="-46937"/>
            <a:chExt cx="304800" cy="2773841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6778DE0-6AF5-5BC2-5D55-63C24A3CA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" r="-5" b="-5"/>
          <a:stretch>
            <a:fillRect/>
          </a:stretch>
        </p:blipFill>
        <p:spPr>
          <a:xfrm>
            <a:off x="3343738" y="412377"/>
            <a:ext cx="2647399" cy="3162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CC8323-3430-223F-BE80-407BA2F59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5186"/>
          <a:stretch>
            <a:fillRect/>
          </a:stretch>
        </p:blipFill>
        <p:spPr>
          <a:xfrm>
            <a:off x="6087020" y="412377"/>
            <a:ext cx="2647399" cy="316277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989900-332E-6145-E479-D14BF1B79F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8" r="5382" b="6"/>
          <a:stretch>
            <a:fillRect/>
          </a:stretch>
        </p:blipFill>
        <p:spPr>
          <a:xfrm>
            <a:off x="8830303" y="412377"/>
            <a:ext cx="2647399" cy="316277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29D174-7222-1E6D-7166-41A5BABD54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30936" y="4018137"/>
                <a:ext cx="4550664" cy="2129586"/>
              </a:xfrm>
              <a:noFill/>
            </p:spPr>
            <p:txBody>
              <a:bodyPr anchor="t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2×2×3</m:t>
                    </m:r>
                  </m:oMath>
                </a14:m>
                <a:r>
                  <a:rPr lang="en-US" sz="48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Case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29D174-7222-1E6D-7166-41A5BABD54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30936" y="4018137"/>
                <a:ext cx="4550664" cy="2129586"/>
              </a:xfrm>
              <a:blipFill>
                <a:blip r:embed="rId6"/>
                <a:stretch>
                  <a:fillRect t="-9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AC893-D5D5-D6FF-5F5A-D0641EDE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994666" cy="2129599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we have found that:</a:t>
            </a:r>
          </a:p>
          <a:p>
            <a:r>
              <a:rPr lang="en-US" sz="1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non-triangles: 4</a:t>
            </a:r>
          </a:p>
          <a:p>
            <a:r>
              <a:rPr lang="en-US" sz="1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right triangles: 156</a:t>
            </a:r>
          </a:p>
          <a:p>
            <a:r>
              <a:rPr lang="en-US" sz="1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acute triangles: 28</a:t>
            </a:r>
          </a:p>
          <a:p>
            <a:r>
              <a:rPr lang="en-US" sz="1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obtuse triangles: 32</a:t>
            </a:r>
          </a:p>
          <a:p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9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36496-623F-0E96-45CD-9F6BEDBD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Hurdles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133F2-446B-D01D-F327-F3DFADB4F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that we are in-sync with the programs in correctly counting and identifying each potential triangle in a given grid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programs will allow for efficient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effective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higher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dimension lattices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907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AE7F0-6BDA-A559-BCF7-2BA398A4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F2943-2E88-8752-4BBF-282CAFB6B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This research was made possible by the NASA West Virginia Space Grant Consortium, Grant #80NSSC25M7079.</a:t>
            </a:r>
          </a:p>
          <a:p>
            <a:pPr marL="0" indent="0">
              <a:buNone/>
            </a:pPr>
            <a:endParaRPr lang="en-US" sz="110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7998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492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Analyzing a Triangle Problem on Finite 3-Dimensional Lattices</vt:lpstr>
      <vt:lpstr>Background</vt:lpstr>
      <vt:lpstr>Foundation</vt:lpstr>
      <vt:lpstr>Computing Angles</vt:lpstr>
      <vt:lpstr>Triangle Classifications</vt:lpstr>
      <vt:lpstr>Visualizing the Grid</vt:lpstr>
      <vt:lpstr>Creating the Grid</vt:lpstr>
      <vt:lpstr>Displaying the Grid</vt:lpstr>
      <vt:lpstr>2×2×2 Case</vt:lpstr>
      <vt:lpstr>2×2×3 Case</vt:lpstr>
      <vt:lpstr>Current Hurdles</vt:lpstr>
      <vt:lpstr>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Khaaliq, Javier</cp:lastModifiedBy>
  <cp:revision>5</cp:revision>
  <dcterms:created xsi:type="dcterms:W3CDTF">2026-03-21T16:14:06Z</dcterms:created>
  <dcterms:modified xsi:type="dcterms:W3CDTF">2026-03-30T14:46:53Z</dcterms:modified>
</cp:coreProperties>
</file>